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mo" charset="1" panose="020B0604020202020204"/>
      <p:regular r:id="rId21"/>
    </p:embeddedFont>
    <p:embeddedFont>
      <p:font typeface="IBM Plex Mono Bold" charset="1" panose="020B0809050203000203"/>
      <p:regular r:id="rId22"/>
    </p:embeddedFont>
    <p:embeddedFont>
      <p:font typeface="Akzidenz-Grotesk Bold" charset="1" panose="02000803050000020004"/>
      <p:regular r:id="rId23"/>
    </p:embeddedFont>
    <p:embeddedFont>
      <p:font typeface="IBM Plex Sans" charset="1" panose="020B0503050203000203"/>
      <p:regular r:id="rId24"/>
    </p:embeddedFont>
    <p:embeddedFont>
      <p:font typeface="IBM Plex Mono" charset="1" panose="020B0509050203000203"/>
      <p:regular r:id="rId25"/>
    </p:embeddedFont>
    <p:embeddedFont>
      <p:font typeface="IBM Plex Sans Bold" charset="1" panose="020B0803050203000203"/>
      <p:regular r:id="rId26"/>
    </p:embeddedFont>
    <p:embeddedFont>
      <p:font typeface="IBM Plex Serif" charset="1" panose="020605030504060002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A1F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>
                      <a:alpha val="57647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Student Name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1790700"/>
            <a:ext cx="133350" cy="4095750"/>
            <a:chOff x="0" y="0"/>
            <a:chExt cx="177800" cy="546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78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33500" y="1704975"/>
            <a:ext cx="66675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spc="215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CSE MINI PROJECT  | 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500" y="2362200"/>
            <a:ext cx="10001250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88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TrustCarbon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0650" y="3771900"/>
            <a:ext cx="857250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Carbon Emission Monitoring, Analytics</a:t>
            </a:r>
          </a:p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 Data Integrity Platform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1730" y="8308265"/>
            <a:ext cx="15102343" cy="3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44">
                <a:solidFill>
                  <a:srgbClr val="CBD7D2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 Name     |   UID      |  Department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1730" y="8778520"/>
            <a:ext cx="2949218" cy="3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44">
                <a:solidFill>
                  <a:srgbClr val="CBD7D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Mohd Adil Khan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1730" y="9248775"/>
            <a:ext cx="2805677" cy="3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44">
                <a:solidFill>
                  <a:srgbClr val="CBD7D2"/>
                </a:solidFill>
                <a:latin typeface="IBM Plex Mono"/>
                <a:ea typeface="IBM Plex Mono"/>
                <a:cs typeface="IBM Plex Mono"/>
                <a:sym typeface="IBM Plex Mono"/>
              </a:rPr>
              <a:t>Adtiya Chavan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83257" y="9720440"/>
            <a:ext cx="1987286" cy="3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44">
                <a:solidFill>
                  <a:srgbClr val="CBD7D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2024800056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83257" y="9250185"/>
            <a:ext cx="1987286" cy="3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44">
                <a:solidFill>
                  <a:srgbClr val="CBD7D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2024800018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83257" y="8778520"/>
            <a:ext cx="1987286" cy="3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44">
                <a:solidFill>
                  <a:srgbClr val="CBD7D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2024800056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3996" y="9699980"/>
            <a:ext cx="2833411" cy="3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44">
                <a:solidFill>
                  <a:srgbClr val="CBD7D2"/>
                </a:solidFill>
                <a:latin typeface="IBM Plex Mono"/>
                <a:ea typeface="IBM Plex Mono"/>
                <a:cs typeface="IBM Plex Mono"/>
                <a:sym typeface="IBM Plex Mono"/>
              </a:rPr>
              <a:t>Jainam Bhavsar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7062" y="8778520"/>
            <a:ext cx="867876" cy="3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44">
                <a:solidFill>
                  <a:srgbClr val="CBD7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67062" y="9250185"/>
            <a:ext cx="867876" cy="3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44">
                <a:solidFill>
                  <a:srgbClr val="CBD7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67062" y="9699980"/>
            <a:ext cx="867876" cy="3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444">
                <a:solidFill>
                  <a:srgbClr val="CBD7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688087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24B47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5621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02B3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Why TrustCarbon?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3429000"/>
            <a:ext cx="3810000" cy="3875246"/>
            <a:chOff x="0" y="0"/>
            <a:chExt cx="5080000" cy="516699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80000" cy="5166995"/>
              <a:chOff x="0" y="0"/>
              <a:chExt cx="5080000" cy="51669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080000" cy="5166995"/>
              </a:xfrm>
              <a:custGeom>
                <a:avLst/>
                <a:gdLst/>
                <a:ahLst/>
                <a:cxnLst/>
                <a:rect r="r" b="b" t="t" l="l"/>
                <a:pathLst>
                  <a:path h="5166995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166995"/>
                    </a:lnTo>
                    <a:lnTo>
                      <a:pt x="0" y="51669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080000" cy="52050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17500"/>
              <a:ext cx="4318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01  Massive datasets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1073785"/>
              <a:ext cx="4318000" cy="220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Thousands of emission records across countries, regions and years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48250" y="3429000"/>
            <a:ext cx="3810000" cy="3894296"/>
            <a:chOff x="0" y="0"/>
            <a:chExt cx="5080000" cy="519239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080000" cy="5192395"/>
              <a:chOff x="0" y="0"/>
              <a:chExt cx="5080000" cy="519239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080000" cy="5192395"/>
              </a:xfrm>
              <a:custGeom>
                <a:avLst/>
                <a:gdLst/>
                <a:ahLst/>
                <a:cxnLst/>
                <a:rect r="r" b="b" t="t" l="l"/>
                <a:pathLst>
                  <a:path h="5192395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192395"/>
                    </a:lnTo>
                    <a:lnTo>
                      <a:pt x="0" y="51923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5080000" cy="52304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1000" y="317500"/>
              <a:ext cx="4318000" cy="1140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02  Weak comparison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1000" y="1657985"/>
              <a:ext cx="4318000" cy="165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Raw CSV data makes country and state comparisons difficult.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39250" y="3429000"/>
            <a:ext cx="3810000" cy="3456146"/>
            <a:chOff x="0" y="0"/>
            <a:chExt cx="5080000" cy="460819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5080000" cy="4608195"/>
              <a:chOff x="0" y="0"/>
              <a:chExt cx="5080000" cy="460819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080000" cy="4608195"/>
              </a:xfrm>
              <a:custGeom>
                <a:avLst/>
                <a:gdLst/>
                <a:ahLst/>
                <a:cxnLst/>
                <a:rect r="r" b="b" t="t" l="l"/>
                <a:pathLst>
                  <a:path h="4608195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4608195"/>
                    </a:lnTo>
                    <a:lnTo>
                      <a:pt x="0" y="46081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5080000" cy="4646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81000" y="317500"/>
              <a:ext cx="4318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03  Hidden signals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81000" y="1073785"/>
              <a:ext cx="4318000" cy="165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Historical patterns are difficult to identify from raw numbers.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430250" y="3429000"/>
            <a:ext cx="3810000" cy="3875246"/>
            <a:chOff x="0" y="0"/>
            <a:chExt cx="5080000" cy="516699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080000" cy="5166995"/>
              <a:chOff x="0" y="0"/>
              <a:chExt cx="5080000" cy="516699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080000" cy="5166995"/>
              </a:xfrm>
              <a:custGeom>
                <a:avLst/>
                <a:gdLst/>
                <a:ahLst/>
                <a:cxnLst/>
                <a:rect r="r" b="b" t="t" l="l"/>
                <a:pathLst>
                  <a:path h="5166995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166995"/>
                    </a:lnTo>
                    <a:lnTo>
                      <a:pt x="0" y="51669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5080000" cy="52050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17500"/>
              <a:ext cx="4318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04  Integrity gap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1073785"/>
              <a:ext cx="4318000" cy="220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Important records should be verifiable against unauthorized modification.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14500" y="6858000"/>
            <a:ext cx="14859000" cy="1238250"/>
            <a:chOff x="0" y="0"/>
            <a:chExt cx="19812000" cy="1651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81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9812000">
                  <a:moveTo>
                    <a:pt x="0" y="0"/>
                  </a:moveTo>
                  <a:lnTo>
                    <a:pt x="19812000" y="0"/>
                  </a:lnTo>
                  <a:lnTo>
                    <a:pt x="198120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B8E986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9812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476500" y="7219950"/>
            <a:ext cx="13335000" cy="49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7"/>
              </a:lnSpc>
            </a:pPr>
            <a:r>
              <a:rPr lang="en-US" sz="3150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RAW DATA → LIMITED CONTEXT → LIMITED INSIGHT &amp; TRUST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688087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24B47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PIPELINE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5621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02B3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From ingestion to verification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4095750"/>
            <a:ext cx="2381250" cy="2000250"/>
            <a:chOff x="0" y="0"/>
            <a:chExt cx="3175000" cy="266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75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7250" y="4095750"/>
            <a:ext cx="2381250" cy="95250"/>
            <a:chOff x="0" y="0"/>
            <a:chExt cx="3175000" cy="12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75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3333750" y="5095875"/>
            <a:ext cx="285750" cy="0"/>
          </a:xfrm>
          <a:prstGeom prst="line">
            <a:avLst/>
          </a:prstGeom>
          <a:ln cap="rnd" w="38100">
            <a:solidFill>
              <a:srgbClr val="24B47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3714750" y="4095750"/>
            <a:ext cx="2381250" cy="2000250"/>
            <a:chOff x="0" y="0"/>
            <a:chExt cx="3175000" cy="266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75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714750" y="4095750"/>
            <a:ext cx="2381250" cy="95250"/>
            <a:chOff x="0" y="0"/>
            <a:chExt cx="3175000" cy="12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75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175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6191250" y="5095875"/>
            <a:ext cx="285750" cy="0"/>
          </a:xfrm>
          <a:prstGeom prst="line">
            <a:avLst/>
          </a:prstGeom>
          <a:ln cap="rnd" w="38100">
            <a:solidFill>
              <a:srgbClr val="24B47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6572250" y="4095750"/>
            <a:ext cx="2381250" cy="2000250"/>
            <a:chOff x="0" y="0"/>
            <a:chExt cx="3175000" cy="266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7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175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72250" y="4095750"/>
            <a:ext cx="2381250" cy="95250"/>
            <a:chOff x="0" y="0"/>
            <a:chExt cx="3175000" cy="12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75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175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9048750" y="5095875"/>
            <a:ext cx="285750" cy="0"/>
          </a:xfrm>
          <a:prstGeom prst="line">
            <a:avLst/>
          </a:prstGeom>
          <a:ln cap="rnd" w="38100">
            <a:solidFill>
              <a:srgbClr val="24B47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9429750" y="4095750"/>
            <a:ext cx="2381250" cy="2000250"/>
            <a:chOff x="0" y="0"/>
            <a:chExt cx="3175000" cy="266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7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175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29750" y="4095750"/>
            <a:ext cx="2381250" cy="95250"/>
            <a:chOff x="0" y="0"/>
            <a:chExt cx="3175000" cy="127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75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175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1906250" y="5095875"/>
            <a:ext cx="285750" cy="0"/>
          </a:xfrm>
          <a:prstGeom prst="line">
            <a:avLst/>
          </a:prstGeom>
          <a:ln cap="rnd" w="38100">
            <a:solidFill>
              <a:srgbClr val="24B47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2287250" y="4095750"/>
            <a:ext cx="2381250" cy="2000250"/>
            <a:chOff x="0" y="0"/>
            <a:chExt cx="3175000" cy="2667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7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175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87250" y="4095750"/>
            <a:ext cx="2381250" cy="95250"/>
            <a:chOff x="0" y="0"/>
            <a:chExt cx="3175000" cy="127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75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175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3" id="43"/>
          <p:cNvSpPr/>
          <p:nvPr/>
        </p:nvSpPr>
        <p:spPr>
          <a:xfrm>
            <a:off x="14763750" y="5095875"/>
            <a:ext cx="285750" cy="0"/>
          </a:xfrm>
          <a:prstGeom prst="line">
            <a:avLst/>
          </a:prstGeom>
          <a:ln cap="rnd" w="38100">
            <a:solidFill>
              <a:srgbClr val="24B47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5144750" y="4095750"/>
            <a:ext cx="2381250" cy="2000250"/>
            <a:chOff x="0" y="0"/>
            <a:chExt cx="3175000" cy="2667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7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10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175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144750" y="4095750"/>
            <a:ext cx="2381250" cy="95250"/>
            <a:chOff x="0" y="0"/>
            <a:chExt cx="3175000" cy="127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175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2B84B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175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66800" y="4667250"/>
            <a:ext cx="1962150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CSV</a:t>
            </a:r>
          </a:p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INGESTION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924300" y="4667250"/>
            <a:ext cx="1962150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CLEAN +</a:t>
            </a:r>
          </a:p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NORMALIZE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791325" y="4667250"/>
            <a:ext cx="1962150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COMPARE +</a:t>
            </a:r>
          </a:p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AGGREGATE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639300" y="4667250"/>
            <a:ext cx="1962150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CHARTS +</a:t>
            </a:r>
          </a:p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MAPS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506325" y="4667250"/>
            <a:ext cx="1962150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ANALYZE TRENDS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354300" y="4464050"/>
            <a:ext cx="1962150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VERIFY</a:t>
            </a:r>
          </a:p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SHA-256 Integrity Check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B8E98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PLATFORM /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5621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What is TRUSTCARBON?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5350" y="2381250"/>
            <a:ext cx="1190625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CBD7D2"/>
                </a:solidFill>
                <a:latin typeface="IBM Plex Sans"/>
                <a:ea typeface="IBM Plex Sans"/>
                <a:cs typeface="IBM Plex Sans"/>
                <a:sym typeface="IBM Plex Sans"/>
              </a:rPr>
              <a:t>A web platform that turns emission datasets into interactive, verifiable insight.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7250" y="3905250"/>
            <a:ext cx="3905250" cy="2067401"/>
            <a:chOff x="0" y="0"/>
            <a:chExt cx="5207000" cy="275653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207000" cy="2756535"/>
              <a:chOff x="0" y="0"/>
              <a:chExt cx="5207000" cy="275653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207000" cy="2756535"/>
              </a:xfrm>
              <a:custGeom>
                <a:avLst/>
                <a:gdLst/>
                <a:ahLst/>
                <a:cxnLst/>
                <a:rect r="r" b="b" t="t" l="l"/>
                <a:pathLst>
                  <a:path h="2756535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756535"/>
                    </a:lnTo>
                    <a:lnTo>
                      <a:pt x="0" y="2756535"/>
                    </a:lnTo>
                    <a:close/>
                  </a:path>
                </a:pathLst>
              </a:custGeom>
              <a:solidFill>
                <a:srgbClr val="102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5207000" cy="27946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81000" y="317500"/>
              <a:ext cx="4445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 /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81000" y="1073785"/>
              <a:ext cx="4445000" cy="1069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Country-wise and historical CO₂ analysis.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43500" y="3905250"/>
            <a:ext cx="3905250" cy="2067401"/>
            <a:chOff x="0" y="0"/>
            <a:chExt cx="5207000" cy="275653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207000" cy="2756535"/>
              <a:chOff x="0" y="0"/>
              <a:chExt cx="5207000" cy="275653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207000" cy="2756535"/>
              </a:xfrm>
              <a:custGeom>
                <a:avLst/>
                <a:gdLst/>
                <a:ahLst/>
                <a:cxnLst/>
                <a:rect r="r" b="b" t="t" l="l"/>
                <a:pathLst>
                  <a:path h="2756535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756535"/>
                    </a:lnTo>
                    <a:lnTo>
                      <a:pt x="0" y="2756535"/>
                    </a:lnTo>
                    <a:close/>
                  </a:path>
                </a:pathLst>
              </a:custGeom>
              <a:solidFill>
                <a:srgbClr val="102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5207000" cy="27946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1000" y="317500"/>
              <a:ext cx="4445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 /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81000" y="1073785"/>
              <a:ext cx="4445000" cy="1069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State-wise emission comparison.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95350" y="6643325"/>
            <a:ext cx="3905250" cy="2327683"/>
            <a:chOff x="0" y="0"/>
            <a:chExt cx="5207000" cy="310357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207000" cy="3103578"/>
              <a:chOff x="0" y="0"/>
              <a:chExt cx="5207000" cy="310357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207000" cy="3103578"/>
              </a:xfrm>
              <a:custGeom>
                <a:avLst/>
                <a:gdLst/>
                <a:ahLst/>
                <a:cxnLst/>
                <a:rect r="r" b="b" t="t" l="l"/>
                <a:pathLst>
                  <a:path h="3103578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3103578"/>
                    </a:lnTo>
                    <a:lnTo>
                      <a:pt x="0" y="3103578"/>
                    </a:lnTo>
                    <a:close/>
                  </a:path>
                </a:pathLst>
              </a:custGeom>
              <a:solidFill>
                <a:srgbClr val="102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5207000" cy="31416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81000" y="351639"/>
              <a:ext cx="4445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 /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81000" y="1107924"/>
              <a:ext cx="4445000" cy="523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Interactive reports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43500" y="6643325"/>
            <a:ext cx="3905250" cy="2327683"/>
            <a:chOff x="0" y="0"/>
            <a:chExt cx="5207000" cy="310357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5207000" cy="3103578"/>
              <a:chOff x="0" y="0"/>
              <a:chExt cx="4985207" cy="297138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985207" cy="2971380"/>
              </a:xfrm>
              <a:custGeom>
                <a:avLst/>
                <a:gdLst/>
                <a:ahLst/>
                <a:cxnLst/>
                <a:rect r="r" b="b" t="t" l="l"/>
                <a:pathLst>
                  <a:path h="2971380" w="4985207">
                    <a:moveTo>
                      <a:pt x="0" y="0"/>
                    </a:moveTo>
                    <a:lnTo>
                      <a:pt x="4985207" y="0"/>
                    </a:lnTo>
                    <a:lnTo>
                      <a:pt x="4985207" y="2971380"/>
                    </a:lnTo>
                    <a:lnTo>
                      <a:pt x="0" y="2971380"/>
                    </a:lnTo>
                    <a:close/>
                  </a:path>
                </a:pathLst>
              </a:custGeom>
              <a:solidFill>
                <a:srgbClr val="102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4985207" cy="30094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81000" y="333321"/>
              <a:ext cx="4445000" cy="579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66"/>
                </a:lnSpc>
              </a:pPr>
              <a:r>
                <a:rPr lang="en-US" sz="2715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 /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81000" y="1132778"/>
              <a:ext cx="4445000" cy="1036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5"/>
                </a:lnSpc>
              </a:pPr>
              <a:r>
                <a:rPr lang="en-US" sz="2344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Hash integrity verification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50499" y="3905250"/>
            <a:ext cx="7780251" cy="4612563"/>
            <a:chOff x="0" y="0"/>
            <a:chExt cx="10373669" cy="6150084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373669" cy="6150084"/>
              <a:chOff x="0" y="0"/>
              <a:chExt cx="10797636" cy="640143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797635" cy="6401435"/>
              </a:xfrm>
              <a:custGeom>
                <a:avLst/>
                <a:gdLst/>
                <a:ahLst/>
                <a:cxnLst/>
                <a:rect r="r" b="b" t="t" l="l"/>
                <a:pathLst>
                  <a:path h="6401435" w="10797635">
                    <a:moveTo>
                      <a:pt x="0" y="0"/>
                    </a:moveTo>
                    <a:lnTo>
                      <a:pt x="10797635" y="0"/>
                    </a:lnTo>
                    <a:lnTo>
                      <a:pt x="10797635" y="6401435"/>
                    </a:lnTo>
                    <a:lnTo>
                      <a:pt x="0" y="6401435"/>
                    </a:lnTo>
                    <a:close/>
                  </a:path>
                </a:pathLst>
              </a:custGeom>
              <a:solidFill>
                <a:srgbClr val="102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0797636" cy="64395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299476" y="267471"/>
              <a:ext cx="9283360" cy="535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2"/>
                </a:lnSpc>
              </a:pPr>
              <a:r>
                <a:rPr lang="en-US" sz="2497" b="true">
                  <a:solidFill>
                    <a:srgbClr val="F2B84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ACCESS CONTROL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299476" y="1242125"/>
              <a:ext cx="9831516" cy="2602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30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OPEN  Industrial emission data  - no login</a:t>
              </a:r>
            </a:p>
            <a:p>
              <a:pPr algn="l">
                <a:lnSpc>
                  <a:spcPts val="3112"/>
                </a:lnSpc>
              </a:pPr>
            </a:p>
            <a:p>
              <a:pPr algn="l">
                <a:lnSpc>
                  <a:spcPts val="3112"/>
                </a:lnSpc>
              </a:pPr>
              <a:r>
                <a:rPr lang="en-US" sz="230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LOGIN  Personal / user-specific data</a:t>
              </a:r>
            </a:p>
            <a:p>
              <a:pPr algn="l">
                <a:lnSpc>
                  <a:spcPts val="3112"/>
                </a:lnSpc>
              </a:pPr>
            </a:p>
            <a:p>
              <a:pPr algn="l">
                <a:lnSpc>
                  <a:spcPts val="3112"/>
                </a:lnSpc>
              </a:pPr>
              <a:r>
                <a:rPr lang="en-US" sz="230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APPROVAL  Company additions verified by admin + DBA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688087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24B47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FRONTEND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5621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02B3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Fast, modular, maintainable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2948103"/>
            <a:ext cx="5048250" cy="2384468"/>
            <a:chOff x="0" y="0"/>
            <a:chExt cx="6731000" cy="317929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731000" cy="3179291"/>
              <a:chOff x="0" y="0"/>
              <a:chExt cx="6731000" cy="317929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731000" cy="3179291"/>
              </a:xfrm>
              <a:custGeom>
                <a:avLst/>
                <a:gdLst/>
                <a:ahLst/>
                <a:cxnLst/>
                <a:rect r="r" b="b" t="t" l="l"/>
                <a:pathLst>
                  <a:path h="3179291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179291"/>
                    </a:lnTo>
                    <a:lnTo>
                      <a:pt x="0" y="3179291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731000" cy="32173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461166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1056245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React 19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81750" y="3003859"/>
            <a:ext cx="5048250" cy="2328712"/>
            <a:chOff x="0" y="0"/>
            <a:chExt cx="6731000" cy="310495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731000" cy="3104950"/>
              <a:chOff x="0" y="0"/>
              <a:chExt cx="6731000" cy="310495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731000" cy="3104950"/>
              </a:xfrm>
              <a:custGeom>
                <a:avLst/>
                <a:gdLst/>
                <a:ahLst/>
                <a:cxnLst/>
                <a:rect r="r" b="b" t="t" l="l"/>
                <a:pathLst>
                  <a:path h="310495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104950"/>
                    </a:lnTo>
                    <a:lnTo>
                      <a:pt x="0" y="310495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731000" cy="3143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1000" y="386824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1000" y="904984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JavaScript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06250" y="3059617"/>
            <a:ext cx="5048250" cy="2272954"/>
            <a:chOff x="0" y="0"/>
            <a:chExt cx="6731000" cy="303060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731000" cy="3030606"/>
              <a:chOff x="0" y="0"/>
              <a:chExt cx="6731000" cy="30306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731000" cy="3030606"/>
              </a:xfrm>
              <a:custGeom>
                <a:avLst/>
                <a:gdLst/>
                <a:ahLst/>
                <a:cxnLst/>
                <a:rect r="r" b="b" t="t" l="l"/>
                <a:pathLst>
                  <a:path h="3030606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030606"/>
                    </a:lnTo>
                    <a:lnTo>
                      <a:pt x="0" y="3030606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731000" cy="30687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81000" y="374934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81000" y="893094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Vite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57250" y="6208871"/>
            <a:ext cx="5048250" cy="2382799"/>
            <a:chOff x="0" y="0"/>
            <a:chExt cx="6731000" cy="317706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731000" cy="3177066"/>
              <a:chOff x="0" y="0"/>
              <a:chExt cx="6731000" cy="317706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731000" cy="3177066"/>
              </a:xfrm>
              <a:custGeom>
                <a:avLst/>
                <a:gdLst/>
                <a:ahLst/>
                <a:cxnLst/>
                <a:rect r="r" b="b" t="t" l="l"/>
                <a:pathLst>
                  <a:path h="3177066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177066"/>
                    </a:lnTo>
                    <a:lnTo>
                      <a:pt x="0" y="3177066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731000" cy="32151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04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835660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React Router DOM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381750" y="6208871"/>
            <a:ext cx="5048250" cy="2336119"/>
            <a:chOff x="0" y="0"/>
            <a:chExt cx="6731000" cy="3114825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731000" cy="3114825"/>
              <a:chOff x="0" y="0"/>
              <a:chExt cx="6731000" cy="311482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731000" cy="3114825"/>
              </a:xfrm>
              <a:custGeom>
                <a:avLst/>
                <a:gdLst/>
                <a:ahLst/>
                <a:cxnLst/>
                <a:rect r="r" b="b" t="t" l="l"/>
                <a:pathLst>
                  <a:path h="3114825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114825"/>
                    </a:lnTo>
                    <a:lnTo>
                      <a:pt x="0" y="311482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731000" cy="3152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05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81000" y="835660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Recharts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906250" y="6208871"/>
            <a:ext cx="5048250" cy="2272956"/>
            <a:chOff x="0" y="0"/>
            <a:chExt cx="6731000" cy="3030608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6731000" cy="3030608"/>
              <a:chOff x="0" y="0"/>
              <a:chExt cx="6731000" cy="303060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731000" cy="3030608"/>
              </a:xfrm>
              <a:custGeom>
                <a:avLst/>
                <a:gdLst/>
                <a:ahLst/>
                <a:cxnLst/>
                <a:rect r="r" b="b" t="t" l="l"/>
                <a:pathLst>
                  <a:path h="3030608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030608"/>
                    </a:lnTo>
                    <a:lnTo>
                      <a:pt x="0" y="3030608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6731000" cy="30687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9"/>
                </a:lnSpc>
              </a:pPr>
              <a:r>
                <a:rPr lang="en-US" sz="2599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06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81000" y="835660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CSS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19125" y="9258300"/>
            <a:ext cx="16573500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875">
                <a:solidFill>
                  <a:srgbClr val="688087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  CSV / JS     •     QUALITY  OXLINT STATIC ANALYSIS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4733925"/>
            <a:ext cx="306437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Component-based UI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496099" y="4733925"/>
            <a:ext cx="26479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Logic &amp; interaction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100768" y="4733925"/>
            <a:ext cx="361548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Development &amp; build tool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5225" y="8072252"/>
            <a:ext cx="22415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navigation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565156" y="8072252"/>
            <a:ext cx="250978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visualization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100768" y="7886515"/>
            <a:ext cx="384150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Styling &amp; responsive layout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688087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24B47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SOFTWARE ENGINEERING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5621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02B3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Composition over complexity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3048000"/>
            <a:ext cx="7620000" cy="5810250"/>
            <a:chOff x="0" y="0"/>
            <a:chExt cx="10160000" cy="774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0" cy="7747000"/>
            </a:xfrm>
            <a:custGeom>
              <a:avLst/>
              <a:gdLst/>
              <a:ahLst/>
              <a:cxnLst/>
              <a:rect r="r" b="b" t="t" l="l"/>
              <a:pathLst>
                <a:path h="7747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00" cy="778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43000" y="3314700"/>
            <a:ext cx="6858000" cy="300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src/</a:t>
            </a:r>
          </a:p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├─ components/</a:t>
            </a:r>
          </a:p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│  ├─ EmissionsTrend</a:t>
            </a:r>
          </a:p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│  ├─ ComparisonChart</a:t>
            </a:r>
          </a:p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│  ├─ RegionalChart</a:t>
            </a:r>
          </a:p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│  ├─ DataTable</a:t>
            </a:r>
          </a:p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│  └─ PersonalTracker</a:t>
            </a:r>
          </a:p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├─ pages/   data/   utils/   styles/</a:t>
            </a:r>
          </a:p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└─ App.jsx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0" y="3790950"/>
            <a:ext cx="6191250" cy="153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24B47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MODULAR</a:t>
            </a:r>
          </a:p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24B47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BY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53625" y="5772150"/>
            <a:ext cx="6191250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300">
                <a:solidFill>
                  <a:srgbClr val="102B3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Reusable React components keep analytics, routing, data, and presentation concerns cleanly separated.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B8E98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ACADEMIC MAPPING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5621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Subject → TrustCarbon feature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3286125"/>
            <a:ext cx="16573500" cy="876300"/>
            <a:chOff x="0" y="0"/>
            <a:chExt cx="22098000" cy="1168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0B23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8250" y="3505200"/>
            <a:ext cx="4095750" cy="40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600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DBMS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0" y="3438525"/>
            <a:ext cx="952500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PostgreSQL storage &amp; management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7250" y="4476750"/>
            <a:ext cx="16573500" cy="876300"/>
            <a:chOff x="0" y="0"/>
            <a:chExt cx="22098000" cy="116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10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8250" y="4686300"/>
            <a:ext cx="4095750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STATISTICS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58000" y="4629150"/>
            <a:ext cx="952500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Z-score &amp; forecasting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57250" y="5667375"/>
            <a:ext cx="16573500" cy="876300"/>
            <a:chOff x="0" y="0"/>
            <a:chExt cx="22098000" cy="116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0B23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38250" y="5876925"/>
            <a:ext cx="4095750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DATA STRUCTURES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58000" y="5819775"/>
            <a:ext cx="952500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Heap &amp; queue processing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7250" y="6858000"/>
            <a:ext cx="16573500" cy="876300"/>
            <a:chOff x="0" y="0"/>
            <a:chExt cx="22098000" cy="1168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10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38250" y="7067550"/>
            <a:ext cx="4095750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NETWORKS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58000" y="7010400"/>
            <a:ext cx="952500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REST APIs &amp; WebSockets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7250" y="8048625"/>
            <a:ext cx="16573500" cy="876300"/>
            <a:chOff x="0" y="0"/>
            <a:chExt cx="22098000" cy="1168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0B23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38250" y="8258175"/>
            <a:ext cx="4095750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ALGORITHMS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58000" y="8201025"/>
            <a:ext cx="952500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Anomaly + graph traversal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688087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24B47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DATASET &amp; METHODOLOGY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5621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02B3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Validated scope. Comparable records.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3333750"/>
            <a:ext cx="5048250" cy="2427446"/>
            <a:chOff x="0" y="0"/>
            <a:chExt cx="6731000" cy="323659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731000" cy="3236595"/>
              <a:chOff x="0" y="0"/>
              <a:chExt cx="6731000" cy="32365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731000" cy="3236595"/>
              </a:xfrm>
              <a:custGeom>
                <a:avLst/>
                <a:gdLst/>
                <a:ahLst/>
                <a:cxnLst/>
                <a:rect r="r" b="b" t="t" l="l"/>
                <a:pathLst>
                  <a:path h="3236595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236595"/>
                    </a:lnTo>
                    <a:lnTo>
                      <a:pt x="0" y="3236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731000" cy="3274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302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5,677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1073785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records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81750" y="3333750"/>
            <a:ext cx="5048250" cy="2427446"/>
            <a:chOff x="0" y="0"/>
            <a:chExt cx="6731000" cy="323659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731000" cy="3236595"/>
              <a:chOff x="0" y="0"/>
              <a:chExt cx="6731000" cy="323659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731000" cy="3236595"/>
              </a:xfrm>
              <a:custGeom>
                <a:avLst/>
                <a:gdLst/>
                <a:ahLst/>
                <a:cxnLst/>
                <a:rect r="r" b="b" t="t" l="l"/>
                <a:pathLst>
                  <a:path h="3236595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236595"/>
                    </a:lnTo>
                    <a:lnTo>
                      <a:pt x="0" y="3236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731000" cy="3274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190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1000" y="1073785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countries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06250" y="3333750"/>
            <a:ext cx="5048250" cy="2427446"/>
            <a:chOff x="0" y="0"/>
            <a:chExt cx="6731000" cy="323659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731000" cy="3236595"/>
              <a:chOff x="0" y="0"/>
              <a:chExt cx="6731000" cy="323659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731000" cy="3236595"/>
              </a:xfrm>
              <a:custGeom>
                <a:avLst/>
                <a:gdLst/>
                <a:ahLst/>
                <a:cxnLst/>
                <a:rect r="r" b="b" t="t" l="l"/>
                <a:pathLst>
                  <a:path h="3236595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236595"/>
                    </a:lnTo>
                    <a:lnTo>
                      <a:pt x="0" y="3236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731000" cy="3274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30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81000" y="1073785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years · 1990–2019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57250" y="6191250"/>
            <a:ext cx="7810500" cy="2427446"/>
            <a:chOff x="0" y="0"/>
            <a:chExt cx="10414000" cy="323659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414000" cy="3236595"/>
              <a:chOff x="0" y="0"/>
              <a:chExt cx="10414000" cy="323659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414000" cy="3236595"/>
              </a:xfrm>
              <a:custGeom>
                <a:avLst/>
                <a:gdLst/>
                <a:ahLst/>
                <a:cxnLst/>
                <a:rect r="r" b="b" t="t" l="l"/>
                <a:pathLst>
                  <a:path h="3236595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236595"/>
                    </a:lnTo>
                    <a:lnTo>
                      <a:pt x="0" y="3236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414000" cy="3274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17500"/>
              <a:ext cx="9652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GLOBAL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1073785"/>
              <a:ext cx="9652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CO₂ emissions • per capita • country-wise history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20250" y="6191250"/>
            <a:ext cx="7810500" cy="2427446"/>
            <a:chOff x="0" y="0"/>
            <a:chExt cx="10414000" cy="3236595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414000" cy="3236595"/>
              <a:chOff x="0" y="0"/>
              <a:chExt cx="10414000" cy="323659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414000" cy="3236595"/>
              </a:xfrm>
              <a:custGeom>
                <a:avLst/>
                <a:gdLst/>
                <a:ahLst/>
                <a:cxnLst/>
                <a:rect r="r" b="b" t="t" l="l"/>
                <a:pathLst>
                  <a:path h="3236595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236595"/>
                    </a:lnTo>
                    <a:lnTo>
                      <a:pt x="0" y="3236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0414000" cy="3274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81000" y="317500"/>
              <a:ext cx="9652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INDIA STATE LEVEL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81000" y="1073785"/>
              <a:ext cx="9652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CO₂ • CO • CH₄ • kg/person • validated CSV + JS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250" y="1924050"/>
            <a:ext cx="13957866" cy="8362950"/>
          </a:xfrm>
          <a:custGeom>
            <a:avLst/>
            <a:gdLst/>
            <a:ahLst/>
            <a:cxnLst/>
            <a:rect r="r" b="b" t="t" l="l"/>
            <a:pathLst>
              <a:path h="8362950" w="13957866">
                <a:moveTo>
                  <a:pt x="0" y="0"/>
                </a:moveTo>
                <a:lnTo>
                  <a:pt x="13957866" y="0"/>
                </a:lnTo>
                <a:lnTo>
                  <a:pt x="13957866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7" r="0" b="-7139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688087"/>
                </a:solidFill>
                <a:latin typeface="IBM Plex Mono"/>
                <a:ea typeface="IBM Plex Mono"/>
                <a:cs typeface="IBM Plex Mono"/>
                <a:sym typeface="IBM Plex Mono"/>
              </a:rPr>
              <a:t>09 / 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24B47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1990—2019 / GLOBAL TREND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250" y="2512123"/>
            <a:ext cx="9721908" cy="6746176"/>
          </a:xfrm>
          <a:custGeom>
            <a:avLst/>
            <a:gdLst/>
            <a:ahLst/>
            <a:cxnLst/>
            <a:rect r="r" b="b" t="t" l="l"/>
            <a:pathLst>
              <a:path h="6746176" w="9721908">
                <a:moveTo>
                  <a:pt x="0" y="0"/>
                </a:moveTo>
                <a:lnTo>
                  <a:pt x="9721908" y="0"/>
                </a:lnTo>
                <a:lnTo>
                  <a:pt x="9721908" y="6746177"/>
                </a:lnTo>
                <a:lnTo>
                  <a:pt x="0" y="67461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4" r="0" b="-4838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B8E98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/ 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2024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1562100"/>
            <a:ext cx="14287500" cy="79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Heatmap of countries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40788" y="1390650"/>
            <a:ext cx="429351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GLOBAL</a:t>
            </a:r>
            <a:r>
              <a:rPr lang="en-US" sz="249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EMISSION INSIGHTS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89469" y="2137097"/>
            <a:ext cx="6541281" cy="2488514"/>
            <a:chOff x="0" y="0"/>
            <a:chExt cx="1722807" cy="655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2806" cy="655411"/>
            </a:xfrm>
            <a:custGeom>
              <a:avLst/>
              <a:gdLst/>
              <a:ahLst/>
              <a:cxnLst/>
              <a:rect r="r" b="b" t="t" l="l"/>
              <a:pathLst>
                <a:path h="655411" w="1722806">
                  <a:moveTo>
                    <a:pt x="0" y="0"/>
                  </a:moveTo>
                  <a:lnTo>
                    <a:pt x="1722806" y="0"/>
                  </a:lnTo>
                  <a:lnTo>
                    <a:pt x="1722806" y="655411"/>
                  </a:lnTo>
                  <a:lnTo>
                    <a:pt x="0" y="655411"/>
                  </a:lnTo>
                  <a:close/>
                </a:path>
              </a:pathLst>
            </a:custGeom>
            <a:solidFill>
              <a:srgbClr val="F4F1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22807" cy="693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89469" y="4797061"/>
            <a:ext cx="6541281" cy="2488514"/>
            <a:chOff x="0" y="0"/>
            <a:chExt cx="1722807" cy="6554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2806" cy="655411"/>
            </a:xfrm>
            <a:custGeom>
              <a:avLst/>
              <a:gdLst/>
              <a:ahLst/>
              <a:cxnLst/>
              <a:rect r="r" b="b" t="t" l="l"/>
              <a:pathLst>
                <a:path h="655411" w="1722806">
                  <a:moveTo>
                    <a:pt x="0" y="0"/>
                  </a:moveTo>
                  <a:lnTo>
                    <a:pt x="1722806" y="0"/>
                  </a:lnTo>
                  <a:lnTo>
                    <a:pt x="1722806" y="655411"/>
                  </a:lnTo>
                  <a:lnTo>
                    <a:pt x="0" y="655411"/>
                  </a:lnTo>
                  <a:close/>
                </a:path>
              </a:pathLst>
            </a:custGeom>
            <a:solidFill>
              <a:srgbClr val="F4F1E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22807" cy="693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89469" y="7457025"/>
            <a:ext cx="6541281" cy="2488514"/>
            <a:chOff x="0" y="0"/>
            <a:chExt cx="1722807" cy="6554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22806" cy="655411"/>
            </a:xfrm>
            <a:custGeom>
              <a:avLst/>
              <a:gdLst/>
              <a:ahLst/>
              <a:cxnLst/>
              <a:rect r="r" b="b" t="t" l="l"/>
              <a:pathLst>
                <a:path h="655411" w="1722806">
                  <a:moveTo>
                    <a:pt x="0" y="0"/>
                  </a:moveTo>
                  <a:lnTo>
                    <a:pt x="1722806" y="0"/>
                  </a:lnTo>
                  <a:lnTo>
                    <a:pt x="1722806" y="655411"/>
                  </a:lnTo>
                  <a:lnTo>
                    <a:pt x="0" y="655411"/>
                  </a:lnTo>
                  <a:close/>
                </a:path>
              </a:pathLst>
            </a:custGeom>
            <a:solidFill>
              <a:srgbClr val="F4F1E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22807" cy="693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889469" y="4920886"/>
            <a:ext cx="6541281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2. REGIONAL PATTERN</a:t>
            </a:r>
          </a:p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Higher emissions are concentrated across major industrial regions, while lower values appear across many developing regions.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38909" y="7418925"/>
            <a:ext cx="699184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4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3. HOW TO READ THE MAP</a:t>
            </a:r>
          </a:p>
          <a:p>
            <a:pPr algn="ctr">
              <a:lnSpc>
                <a:spcPts val="3374"/>
              </a:lnSpc>
            </a:pPr>
            <a:r>
              <a:rPr lang="en-US" sz="24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Dark red → Higher CO₂ emissions</a:t>
            </a:r>
          </a:p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Light red → Lower CO₂ emissions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50556" y="2120536"/>
            <a:ext cx="5819108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4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1. MAJOR CONTRIBUTORS</a:t>
            </a:r>
          </a:p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Maj</a:t>
            </a:r>
            <a:r>
              <a:rPr lang="en-US" sz="24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or industrial and energy-consuming economies account for a large share of annual CO₂ emissions.</a:t>
            </a:r>
          </a:p>
          <a:p>
            <a:pPr algn="ctr">
              <a:lnSpc>
                <a:spcPts val="3374"/>
              </a:lnSpc>
              <a:spcBef>
                <a:spcPct val="0"/>
              </a:spcBef>
            </a:pPr>
          </a:p>
          <a:p>
            <a:pPr algn="ctr">
              <a:lnSpc>
                <a:spcPts val="33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91808" y="2368296"/>
            <a:ext cx="10706396" cy="597397"/>
            <a:chOff x="0" y="0"/>
            <a:chExt cx="13201156" cy="736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01155" cy="736600"/>
            </a:xfrm>
            <a:custGeom>
              <a:avLst/>
              <a:gdLst/>
              <a:ahLst/>
              <a:cxnLst/>
              <a:rect r="r" b="b" t="t" l="l"/>
              <a:pathLst>
                <a:path h="736600" w="13201155">
                  <a:moveTo>
                    <a:pt x="0" y="0"/>
                  </a:moveTo>
                  <a:lnTo>
                    <a:pt x="13201155" y="0"/>
                  </a:lnTo>
                  <a:lnTo>
                    <a:pt x="13201155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2011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91808" y="3501291"/>
            <a:ext cx="10706396" cy="597397"/>
            <a:chOff x="0" y="0"/>
            <a:chExt cx="13201156" cy="736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01155" cy="736600"/>
            </a:xfrm>
            <a:custGeom>
              <a:avLst/>
              <a:gdLst/>
              <a:ahLst/>
              <a:cxnLst/>
              <a:rect r="r" b="b" t="t" l="l"/>
              <a:pathLst>
                <a:path h="736600" w="13201155">
                  <a:moveTo>
                    <a:pt x="0" y="0"/>
                  </a:moveTo>
                  <a:lnTo>
                    <a:pt x="13201155" y="0"/>
                  </a:lnTo>
                  <a:lnTo>
                    <a:pt x="13201155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2011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91808" y="4634285"/>
            <a:ext cx="10706396" cy="597397"/>
            <a:chOff x="0" y="0"/>
            <a:chExt cx="13201156" cy="73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01155" cy="736600"/>
            </a:xfrm>
            <a:custGeom>
              <a:avLst/>
              <a:gdLst/>
              <a:ahLst/>
              <a:cxnLst/>
              <a:rect r="r" b="b" t="t" l="l"/>
              <a:pathLst>
                <a:path h="736600" w="13201155">
                  <a:moveTo>
                    <a:pt x="0" y="0"/>
                  </a:moveTo>
                  <a:lnTo>
                    <a:pt x="13201155" y="0"/>
                  </a:lnTo>
                  <a:lnTo>
                    <a:pt x="13201155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2011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91808" y="5767279"/>
            <a:ext cx="9286116" cy="597397"/>
            <a:chOff x="0" y="0"/>
            <a:chExt cx="11449927" cy="736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49927" cy="736600"/>
            </a:xfrm>
            <a:custGeom>
              <a:avLst/>
              <a:gdLst/>
              <a:ahLst/>
              <a:cxnLst/>
              <a:rect r="r" b="b" t="t" l="l"/>
              <a:pathLst>
                <a:path h="736600" w="11449927">
                  <a:moveTo>
                    <a:pt x="0" y="0"/>
                  </a:moveTo>
                  <a:lnTo>
                    <a:pt x="11449927" y="0"/>
                  </a:lnTo>
                  <a:lnTo>
                    <a:pt x="11449927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0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449927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91808" y="6900274"/>
            <a:ext cx="9143393" cy="597397"/>
            <a:chOff x="0" y="0"/>
            <a:chExt cx="11273948" cy="736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73948" cy="736600"/>
            </a:xfrm>
            <a:custGeom>
              <a:avLst/>
              <a:gdLst/>
              <a:ahLst/>
              <a:cxnLst/>
              <a:rect r="r" b="b" t="t" l="l"/>
              <a:pathLst>
                <a:path h="736600" w="11273948">
                  <a:moveTo>
                    <a:pt x="0" y="0"/>
                  </a:moveTo>
                  <a:lnTo>
                    <a:pt x="11273948" y="0"/>
                  </a:lnTo>
                  <a:lnTo>
                    <a:pt x="11273948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0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273948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99276" y="274320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688087"/>
                </a:solidFill>
                <a:latin typeface="IBM Plex Mono"/>
                <a:ea typeface="IBM Plex Mono"/>
                <a:cs typeface="IBM Plex Mono"/>
                <a:sym typeface="IBM Plex Mono"/>
              </a:rPr>
              <a:t>11 / 15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9276" y="838200"/>
            <a:ext cx="619125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099" spc="251" b="true">
                <a:solidFill>
                  <a:srgbClr val="24B47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INDIA / STATE-WISE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9276" y="1358265"/>
            <a:ext cx="14287500" cy="80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02B3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CO₂ per capita · kg/person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4587" y="2502195"/>
            <a:ext cx="3970037" cy="27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1"/>
              </a:lnSpc>
            </a:pPr>
            <a:r>
              <a:rPr lang="en-US" sz="1865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  GOA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85757" y="2452246"/>
            <a:ext cx="1934121" cy="32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34"/>
              </a:lnSpc>
            </a:pPr>
            <a:r>
              <a:rPr lang="en-US" sz="2027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1618.08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4587" y="3635190"/>
            <a:ext cx="3970037" cy="27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1"/>
              </a:lnSpc>
            </a:pPr>
            <a:r>
              <a:rPr lang="en-US" sz="1865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  CHHATTISGARH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185757" y="3585240"/>
            <a:ext cx="1934121" cy="32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34"/>
              </a:lnSpc>
            </a:pPr>
            <a:r>
              <a:rPr lang="en-US" sz="2027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1618.08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4587" y="4768184"/>
            <a:ext cx="3970037" cy="27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1"/>
              </a:lnSpc>
            </a:pPr>
            <a:r>
              <a:rPr lang="en-US" sz="1865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  PUNJAB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185757" y="4718234"/>
            <a:ext cx="1934121" cy="32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34"/>
              </a:lnSpc>
            </a:pPr>
            <a:r>
              <a:rPr lang="en-US" sz="2027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1618.08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14587" y="5901179"/>
            <a:ext cx="3970037" cy="27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1"/>
              </a:lnSpc>
            </a:pPr>
            <a:r>
              <a:rPr lang="en-US" sz="1865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  JHARKHAND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85757" y="5851229"/>
            <a:ext cx="1934121" cy="32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34"/>
              </a:lnSpc>
            </a:pPr>
            <a:r>
              <a:rPr lang="en-US" sz="2027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1403.43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4587" y="7034173"/>
            <a:ext cx="3970037" cy="27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1"/>
              </a:lnSpc>
            </a:pPr>
            <a:r>
              <a:rPr lang="en-US" sz="1865" b="true">
                <a:solidFill>
                  <a:srgbClr val="102B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5  HARYANA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185757" y="6984223"/>
            <a:ext cx="1934121" cy="32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34"/>
              </a:lnSpc>
            </a:pPr>
            <a:r>
              <a:rPr lang="en-US" sz="2027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1381.86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14587" y="7983446"/>
            <a:ext cx="14545444" cy="2303554"/>
            <a:chOff x="0" y="0"/>
            <a:chExt cx="3830899" cy="6066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30899" cy="606697"/>
            </a:xfrm>
            <a:custGeom>
              <a:avLst/>
              <a:gdLst/>
              <a:ahLst/>
              <a:cxnLst/>
              <a:rect r="r" b="b" t="t" l="l"/>
              <a:pathLst>
                <a:path h="606697" w="3830899">
                  <a:moveTo>
                    <a:pt x="9048" y="0"/>
                  </a:moveTo>
                  <a:lnTo>
                    <a:pt x="3821850" y="0"/>
                  </a:lnTo>
                  <a:cubicBezTo>
                    <a:pt x="3824250" y="0"/>
                    <a:pt x="3826552" y="953"/>
                    <a:pt x="3828248" y="2650"/>
                  </a:cubicBezTo>
                  <a:cubicBezTo>
                    <a:pt x="3829945" y="4347"/>
                    <a:pt x="3830899" y="6649"/>
                    <a:pt x="3830899" y="9048"/>
                  </a:cubicBezTo>
                  <a:lnTo>
                    <a:pt x="3830899" y="597649"/>
                  </a:lnTo>
                  <a:cubicBezTo>
                    <a:pt x="3830899" y="600049"/>
                    <a:pt x="3829945" y="602350"/>
                    <a:pt x="3828248" y="604047"/>
                  </a:cubicBezTo>
                  <a:cubicBezTo>
                    <a:pt x="3826552" y="605744"/>
                    <a:pt x="3824250" y="606697"/>
                    <a:pt x="3821850" y="606697"/>
                  </a:cubicBezTo>
                  <a:lnTo>
                    <a:pt x="9048" y="606697"/>
                  </a:lnTo>
                  <a:cubicBezTo>
                    <a:pt x="6649" y="606697"/>
                    <a:pt x="4347" y="605744"/>
                    <a:pt x="2650" y="604047"/>
                  </a:cubicBezTo>
                  <a:cubicBezTo>
                    <a:pt x="953" y="602350"/>
                    <a:pt x="0" y="600049"/>
                    <a:pt x="0" y="597649"/>
                  </a:cubicBezTo>
                  <a:lnTo>
                    <a:pt x="0" y="9048"/>
                  </a:lnTo>
                  <a:cubicBezTo>
                    <a:pt x="0" y="6649"/>
                    <a:pt x="953" y="4347"/>
                    <a:pt x="2650" y="2650"/>
                  </a:cubicBezTo>
                  <a:cubicBezTo>
                    <a:pt x="4347" y="953"/>
                    <a:pt x="6649" y="0"/>
                    <a:pt x="9048" y="0"/>
                  </a:cubicBezTo>
                  <a:close/>
                </a:path>
              </a:pathLst>
            </a:custGeom>
            <a:solidFill>
              <a:srgbClr val="BDBAB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830899" cy="644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28700" y="8145371"/>
            <a:ext cx="13105134" cy="194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099" spc="25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TrustCarbon tracks state-wise greenhouse gas emissions, including:</a:t>
            </a:r>
          </a:p>
          <a:p>
            <a:pPr algn="l" marL="453387" indent="-226693" lvl="1">
              <a:lnSpc>
                <a:spcPts val="2624"/>
              </a:lnSpc>
              <a:buFont typeface="Arial"/>
              <a:buChar char="•"/>
            </a:pPr>
            <a:r>
              <a:rPr lang="en-US" b="true" sz="2099" spc="25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CO₂ — Carbon Dioxide</a:t>
            </a:r>
          </a:p>
          <a:p>
            <a:pPr algn="l" marL="453387" indent="-226693" lvl="1">
              <a:lnSpc>
                <a:spcPts val="2624"/>
              </a:lnSpc>
              <a:buFont typeface="Arial"/>
              <a:buChar char="•"/>
            </a:pPr>
            <a:r>
              <a:rPr lang="en-US" b="true" sz="2099" spc="25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 — Carbon Monoxide</a:t>
            </a:r>
          </a:p>
          <a:p>
            <a:pPr algn="l" marL="453387" indent="-226693" lvl="1">
              <a:lnSpc>
                <a:spcPts val="2624"/>
              </a:lnSpc>
              <a:buFont typeface="Arial"/>
              <a:buChar char="•"/>
            </a:pPr>
            <a:r>
              <a:rPr lang="en-US" b="true" sz="2099" spc="25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CH₄ — Methane</a:t>
            </a:r>
          </a:p>
          <a:p>
            <a:pPr algn="l" marL="453387" indent="-226693" lvl="1">
              <a:lnSpc>
                <a:spcPts val="2624"/>
              </a:lnSpc>
              <a:buFont typeface="Arial"/>
              <a:buChar char="•"/>
            </a:pPr>
            <a:r>
              <a:rPr lang="en-US" b="true" sz="2099" spc="25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CO₂ per capita — kg/person</a:t>
            </a:r>
          </a:p>
          <a:p>
            <a:pPr algn="l">
              <a:lnSpc>
                <a:spcPts val="262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B8E98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239000" y="1619250"/>
            <a:ext cx="10287000" cy="7239000"/>
          </a:xfrm>
          <a:custGeom>
            <a:avLst/>
            <a:gdLst/>
            <a:ahLst/>
            <a:cxnLst/>
            <a:rect r="r" b="b" t="t" l="l"/>
            <a:pathLst>
              <a:path h="7239000" w="10287000">
                <a:moveTo>
                  <a:pt x="0" y="0"/>
                </a:moveTo>
                <a:lnTo>
                  <a:pt x="10287000" y="0"/>
                </a:lnTo>
                <a:lnTo>
                  <a:pt x="102870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03" t="0" r="-12753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WORKING APPLICATION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1562100"/>
            <a:ext cx="14287500" cy="145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One interface.</a:t>
            </a:r>
          </a:p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Four clear journeys.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137388"/>
            <a:ext cx="7315200" cy="187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</a:pPr>
            <a:r>
              <a:rPr lang="en-US" sz="2982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HOME</a:t>
            </a:r>
          </a:p>
          <a:p>
            <a:pPr algn="l">
              <a:lnSpc>
                <a:spcPts val="3728"/>
              </a:lnSpc>
            </a:pPr>
            <a:r>
              <a:rPr lang="en-US" sz="2982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DASHBOARD</a:t>
            </a:r>
          </a:p>
          <a:p>
            <a:pPr algn="l">
              <a:lnSpc>
                <a:spcPts val="3728"/>
              </a:lnSpc>
            </a:pPr>
            <a:r>
              <a:rPr lang="en-US" sz="2982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ANALYTICS</a:t>
            </a:r>
          </a:p>
          <a:p>
            <a:pPr algn="l">
              <a:lnSpc>
                <a:spcPts val="3728"/>
              </a:lnSpc>
            </a:pPr>
            <a:r>
              <a:rPr lang="en-US" sz="2982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PERSONAL TRACKER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656723"/>
            <a:ext cx="6235014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68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Industrial: open access</a:t>
            </a:r>
          </a:p>
          <a:p>
            <a:pPr algn="l">
              <a:lnSpc>
                <a:spcPts val="3629"/>
              </a:lnSpc>
            </a:pPr>
            <a:r>
              <a:rPr lang="en-US" sz="268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Personal: login required</a:t>
            </a:r>
          </a:p>
          <a:p>
            <a:pPr algn="l">
              <a:lnSpc>
                <a:spcPts val="3629"/>
              </a:lnSpc>
            </a:pPr>
            <a:r>
              <a:rPr lang="en-US" sz="268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Company submission: admin approval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688087"/>
                </a:solidFill>
                <a:latin typeface="IBM Plex Mono"/>
                <a:ea typeface="IBM Plex Mono"/>
                <a:cs typeface="IBM Plex Mono"/>
                <a:sym typeface="IBM Plex Mono"/>
              </a:rPr>
              <a:t>13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24B47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INSIDE THE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5621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02B3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See the signal, then inspect the record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3429000"/>
            <a:ext cx="5048250" cy="2141696"/>
            <a:chOff x="0" y="0"/>
            <a:chExt cx="6731000" cy="285559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731000" cy="2855595"/>
              <a:chOff x="0" y="0"/>
              <a:chExt cx="6731000" cy="28555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731000" cy="2855595"/>
              </a:xfrm>
              <a:custGeom>
                <a:avLst/>
                <a:gdLst/>
                <a:ahLst/>
                <a:cxnLst/>
                <a:rect r="r" b="b" t="t" l="l"/>
                <a:pathLst>
                  <a:path h="2855595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855595"/>
                    </a:lnTo>
                    <a:lnTo>
                      <a:pt x="0" y="2855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731000" cy="2893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KPI CARDS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1073785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Key metrics at a glance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81750" y="3429000"/>
            <a:ext cx="5048250" cy="2141696"/>
            <a:chOff x="0" y="0"/>
            <a:chExt cx="6731000" cy="285559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731000" cy="2855595"/>
              <a:chOff x="0" y="0"/>
              <a:chExt cx="6731000" cy="285559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731000" cy="2855595"/>
              </a:xfrm>
              <a:custGeom>
                <a:avLst/>
                <a:gdLst/>
                <a:ahLst/>
                <a:cxnLst/>
                <a:rect r="r" b="b" t="t" l="l"/>
                <a:pathLst>
                  <a:path h="2855595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855595"/>
                    </a:lnTo>
                    <a:lnTo>
                      <a:pt x="0" y="2855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731000" cy="2893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TREND VIEW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1000" y="1073785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Change through time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06250" y="3429000"/>
            <a:ext cx="5048250" cy="2141696"/>
            <a:chOff x="0" y="0"/>
            <a:chExt cx="6731000" cy="285559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731000" cy="2855595"/>
              <a:chOff x="0" y="0"/>
              <a:chExt cx="6731000" cy="285559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731000" cy="2855595"/>
              </a:xfrm>
              <a:custGeom>
                <a:avLst/>
                <a:gdLst/>
                <a:ahLst/>
                <a:cxnLst/>
                <a:rect r="r" b="b" t="t" l="l"/>
                <a:pathLst>
                  <a:path h="2855595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855595"/>
                    </a:lnTo>
                    <a:lnTo>
                      <a:pt x="0" y="2855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731000" cy="2893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REGIONAL CHARTS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81000" y="1073785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Compare places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57250" y="5762625"/>
            <a:ext cx="5048250" cy="2141696"/>
            <a:chOff x="0" y="0"/>
            <a:chExt cx="6731000" cy="285559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731000" cy="2855595"/>
              <a:chOff x="0" y="0"/>
              <a:chExt cx="6731000" cy="285559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731000" cy="2855595"/>
              </a:xfrm>
              <a:custGeom>
                <a:avLst/>
                <a:gdLst/>
                <a:ahLst/>
                <a:cxnLst/>
                <a:rect r="r" b="b" t="t" l="l"/>
                <a:pathLst>
                  <a:path h="2855595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855595"/>
                    </a:lnTo>
                    <a:lnTo>
                      <a:pt x="0" y="2855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731000" cy="2893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DATA TABLES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1073785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Inspect detailed records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381750" y="5762625"/>
            <a:ext cx="5048250" cy="2141696"/>
            <a:chOff x="0" y="0"/>
            <a:chExt cx="6731000" cy="2855595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731000" cy="2855595"/>
              <a:chOff x="0" y="0"/>
              <a:chExt cx="6731000" cy="285559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731000" cy="2855595"/>
              </a:xfrm>
              <a:custGeom>
                <a:avLst/>
                <a:gdLst/>
                <a:ahLst/>
                <a:cxnLst/>
                <a:rect r="r" b="b" t="t" l="l"/>
                <a:pathLst>
                  <a:path h="2855595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855595"/>
                    </a:lnTo>
                    <a:lnTo>
                      <a:pt x="0" y="2855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731000" cy="2893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ANALYTICS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81000" y="1073785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Explore interactively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906250" y="5762625"/>
            <a:ext cx="5048250" cy="2141696"/>
            <a:chOff x="0" y="0"/>
            <a:chExt cx="6731000" cy="2855595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6731000" cy="2855595"/>
              <a:chOff x="0" y="0"/>
              <a:chExt cx="6731000" cy="285559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731000" cy="2855595"/>
              </a:xfrm>
              <a:custGeom>
                <a:avLst/>
                <a:gdLst/>
                <a:ahLst/>
                <a:cxnLst/>
                <a:rect r="r" b="b" t="t" l="l"/>
                <a:pathLst>
                  <a:path h="2855595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855595"/>
                    </a:lnTo>
                    <a:lnTo>
                      <a:pt x="0" y="285559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6731000" cy="2893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81000" y="317500"/>
              <a:ext cx="5969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F2B84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ACCESS POLICY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81000" y="1073785"/>
              <a:ext cx="59690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Right data, right user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7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B8E98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B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B8E98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DATA INTEGRITY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5621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Can we trust the data?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3429000"/>
            <a:ext cx="7239000" cy="3353276"/>
            <a:chOff x="0" y="0"/>
            <a:chExt cx="9652000" cy="447103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652000" cy="4471035"/>
              <a:chOff x="0" y="0"/>
              <a:chExt cx="9652000" cy="447103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52000" cy="4471035"/>
              </a:xfrm>
              <a:custGeom>
                <a:avLst/>
                <a:gdLst/>
                <a:ahLst/>
                <a:cxnLst/>
                <a:rect r="r" b="b" t="t" l="l"/>
                <a:pathLst>
                  <a:path h="4471035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471035"/>
                    </a:lnTo>
                    <a:lnTo>
                      <a:pt x="0" y="4471035"/>
                    </a:lnTo>
                    <a:close/>
                  </a:path>
                </a:pathLst>
              </a:custGeom>
              <a:solidFill>
                <a:srgbClr val="102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652000" cy="45091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317500"/>
              <a:ext cx="8890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24B47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ORIGINAL RECORD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1073785"/>
              <a:ext cx="8890000" cy="161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SHA-256 hash matches</a:t>
              </a:r>
            </a:p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✓ tamper-evident</a:t>
              </a:r>
            </a:p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✓ verified by database administrator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29750" y="3429000"/>
            <a:ext cx="7239000" cy="3353276"/>
            <a:chOff x="0" y="0"/>
            <a:chExt cx="9652000" cy="447103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652000" cy="4471035"/>
              <a:chOff x="0" y="0"/>
              <a:chExt cx="9652000" cy="447103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652000" cy="4471035"/>
              </a:xfrm>
              <a:custGeom>
                <a:avLst/>
                <a:gdLst/>
                <a:ahLst/>
                <a:cxnLst/>
                <a:rect r="r" b="b" t="t" l="l"/>
                <a:pathLst>
                  <a:path h="4471035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471035"/>
                    </a:lnTo>
                    <a:lnTo>
                      <a:pt x="0" y="4471035"/>
                    </a:lnTo>
                    <a:close/>
                  </a:path>
                </a:pathLst>
              </a:custGeom>
              <a:solidFill>
                <a:srgbClr val="102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9652000" cy="45091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1000" y="317500"/>
              <a:ext cx="8890000" cy="556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0"/>
                </a:lnSpc>
              </a:pPr>
              <a:r>
                <a:rPr lang="en-US" sz="2600" b="true">
                  <a:solidFill>
                    <a:srgbClr val="F2B84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MODIFIED RECORD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1000" y="1073785"/>
              <a:ext cx="8890000" cy="161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SHA-256 hash mismatch</a:t>
              </a:r>
            </a:p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× change detected</a:t>
              </a:r>
            </a:p>
            <a:p>
              <a:pPr algn="l">
                <a:lnSpc>
                  <a:spcPts val="3240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× approval blocked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7250" y="7143750"/>
            <a:ext cx="16573500" cy="1047750"/>
            <a:chOff x="0" y="0"/>
            <a:chExt cx="220980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09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10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209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28750" y="7524750"/>
            <a:ext cx="15430500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875">
                <a:solidFill>
                  <a:srgbClr val="B8E98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RECORD 01  8f14e45f…     RECORD 02  45c48cce…     RECORD 03  VERIFIED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47675"/>
            <a:ext cx="2857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264">
                <a:solidFill>
                  <a:srgbClr val="102B3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TRUSTCARBON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16250" y="476250"/>
            <a:ext cx="1714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688087"/>
                </a:solidFill>
                <a:latin typeface="IBM Plex Mono"/>
                <a:ea typeface="IBM Plex Mono"/>
                <a:cs typeface="IBM Plex Mono"/>
                <a:sym typeface="IBM Plex Mono"/>
              </a:rPr>
              <a:t>15 / 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87630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1200150"/>
            <a:ext cx="6191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179" b="true">
                <a:solidFill>
                  <a:srgbClr val="24B47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PROJECT OUTCOMES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15621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02B3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From raw emissions to trusted insight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3305175"/>
            <a:ext cx="7774750" cy="219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637">
                <a:solidFill>
                  <a:srgbClr val="102B3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BUILT</a:t>
            </a:r>
          </a:p>
          <a:p>
            <a:pPr algn="l">
              <a:lnSpc>
                <a:spcPts val="3560"/>
              </a:lnSpc>
            </a:pPr>
            <a:r>
              <a:rPr lang="en-US" sz="2637">
                <a:solidFill>
                  <a:srgbClr val="102B3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Interactive dashboard</a:t>
            </a:r>
          </a:p>
          <a:p>
            <a:pPr algn="l">
              <a:lnSpc>
                <a:spcPts val="3560"/>
              </a:lnSpc>
            </a:pPr>
            <a:r>
              <a:rPr lang="en-US" sz="2637">
                <a:solidFill>
                  <a:srgbClr val="102B3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Global + India analysis</a:t>
            </a:r>
          </a:p>
          <a:p>
            <a:pPr algn="l">
              <a:lnSpc>
                <a:spcPts val="3560"/>
              </a:lnSpc>
            </a:pPr>
            <a:r>
              <a:rPr lang="en-US" sz="2637">
                <a:solidFill>
                  <a:srgbClr val="102B3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Historical trends</a:t>
            </a:r>
          </a:p>
          <a:p>
            <a:pPr algn="l">
              <a:lnSpc>
                <a:spcPts val="3560"/>
              </a:lnSpc>
            </a:pPr>
            <a:r>
              <a:rPr lang="en-US" sz="2637">
                <a:solidFill>
                  <a:srgbClr val="102B3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Hash-based integrity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0" y="3295650"/>
            <a:ext cx="7957692" cy="213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542">
                <a:solidFill>
                  <a:srgbClr val="102B3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NEXT</a:t>
            </a:r>
          </a:p>
          <a:p>
            <a:pPr algn="l">
              <a:lnSpc>
                <a:spcPts val="3432"/>
              </a:lnSpc>
            </a:pPr>
            <a:r>
              <a:rPr lang="en-US" sz="2542">
                <a:solidFill>
                  <a:srgbClr val="102B3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Real-time APIs</a:t>
            </a:r>
          </a:p>
          <a:p>
            <a:pPr algn="l">
              <a:lnSpc>
                <a:spcPts val="3432"/>
              </a:lnSpc>
            </a:pPr>
            <a:r>
              <a:rPr lang="en-US" sz="2542">
                <a:solidFill>
                  <a:srgbClr val="102B3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ML forecasting + anomalies</a:t>
            </a:r>
          </a:p>
          <a:p>
            <a:pPr algn="l">
              <a:lnSpc>
                <a:spcPts val="3432"/>
              </a:lnSpc>
            </a:pPr>
            <a:r>
              <a:rPr lang="en-US" sz="2542">
                <a:solidFill>
                  <a:srgbClr val="102B3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Blockchain verification</a:t>
            </a:r>
          </a:p>
          <a:p>
            <a:pPr algn="l">
              <a:lnSpc>
                <a:spcPts val="3432"/>
              </a:lnSpc>
            </a:pPr>
            <a:r>
              <a:rPr lang="en-US" sz="2542">
                <a:solidFill>
                  <a:srgbClr val="102B3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Carbon credit tracking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57250" y="7239000"/>
            <a:ext cx="16573500" cy="1428750"/>
            <a:chOff x="0" y="0"/>
            <a:chExt cx="22098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9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02B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098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19250" y="7610475"/>
            <a:ext cx="15049500" cy="92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33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Turning emission data into understandable</a:t>
            </a:r>
          </a:p>
          <a:p>
            <a:pPr algn="ctr">
              <a:lnSpc>
                <a:spcPts val="3366"/>
              </a:lnSpc>
            </a:pPr>
            <a:r>
              <a:rPr lang="en-US" sz="33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and verifiable information.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91250" y="9324975"/>
            <a:ext cx="5905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b="true" sz="1650" spc="231">
                <a:solidFill>
                  <a:srgbClr val="24B47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THANK YOU  /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DAHSej9dKKw</dc:identifier>
  <dcterms:modified xsi:type="dcterms:W3CDTF">2011-08-01T06:04:30Z</dcterms:modified>
  <cp:revision>1</cp:revision>
  <dc:title>04 Integrity gap</dc:title>
</cp:coreProperties>
</file>